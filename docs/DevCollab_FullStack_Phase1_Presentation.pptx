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F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1097280" y="914400"/>
            <a:ext cx="9966960" cy="5029200"/>
          </a:xfrm>
          <a:prstGeom prst="roundRect">
            <a:avLst/>
          </a:prstGeom>
          <a:solidFill>
            <a:srgbClr val="0F172A"/>
          </a:solidFill>
          <a:ln w="2540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645920" y="1280160"/>
            <a:ext cx="886968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F59E0B"/>
                </a:solidFill>
              </a:defRPr>
            </a:pPr>
            <a:r>
              <a:t>RV UNIVERSITY | CS3301 FULL STACK DEVELOPMENT</a:t>
            </a:r>
          </a:p>
          <a:p>
            <a:pPr algn="ctr">
              <a:defRPr sz="3600" b="1">
                <a:solidFill>
                  <a:srgbClr val="38BDF8"/>
                </a:solidFill>
              </a:defRPr>
            </a:pPr>
            <a:r>
              <a:t>DevCollab</a:t>
            </a:r>
          </a:p>
          <a:p>
            <a:pPr algn="ctr">
              <a:defRPr sz="1800">
                <a:solidFill>
                  <a:srgbClr val="F8FAFC"/>
                </a:solidFill>
              </a:defRPr>
            </a:pPr>
            <a:r>
              <a:t>Modern Developer Teaming &amp; Open-Source Task Marketplace</a:t>
            </a:r>
          </a:p>
          <a:p>
            <a:br/>
            <a:pPr algn="ctr">
              <a:defRPr sz="1400">
                <a:solidFill>
                  <a:srgbClr val="94A3B8"/>
                </a:solidFill>
              </a:defRPr>
            </a:pPr>
            <a:r>
              <a:t>Project Phase-1 Component-2 (CIE-1 Submission)</a:t>
            </a:r>
            <a:br/>
          </a:p>
          <a:p>
            <a:pPr algn="ctr">
              <a:defRPr sz="1200">
                <a:solidFill>
                  <a:srgbClr val="CBD5E1"/>
                </a:solidFill>
              </a:defRPr>
            </a:pPr>
            <a:r>
              <a:t>Team Members: [Student Name 1 | USN 1]  •  [Student Name 2 | USN 2]  •  [Student Name 3 | USN 3]</a:t>
            </a:r>
            <a:br/>
            <a:r>
              <a:t>Semester: 5th Semester B.Sc. (Computer Science) | Faculty: RVU School of Computer Science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F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09728"/>
            <a:ext cx="10698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F59E0B"/>
                </a:solidFill>
              </a:defRPr>
            </a:pPr>
            <a:r>
              <a:t>CS3301 FULL STACK DEVELOPMENT</a:t>
            </a:r>
          </a:p>
          <a:p>
            <a:pPr>
              <a:defRPr sz="2000" b="1">
                <a:solidFill>
                  <a:srgbClr val="F8FAFC"/>
                </a:solidFill>
              </a:defRPr>
            </a:pPr>
            <a:r>
              <a:t>1. Title and Problem Definition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371600"/>
            <a:ext cx="5120640" cy="484632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554480"/>
            <a:ext cx="475488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EF4444"/>
                </a:solidFill>
              </a:defRPr>
            </a:pPr>
            <a:r>
              <a:t>⚠️ THE CORE PROBLEMS IDENTIFIED</a:t>
            </a:r>
          </a:p>
          <a:p>
            <a:pPr>
              <a:defRPr sz="1100">
                <a:solidFill>
                  <a:srgbClr val="F8FAFC"/>
                </a:solidFill>
              </a:defRPr>
            </a:pPr>
            <a:r>
              <a:t>• Difficulty in Finding Project Teammates: Solo builders with strong backend skills often lack frontend/UI developers (and vice versa) for hackathons and semester capstones.</a:t>
            </a:r>
          </a:p>
          <a:p>
            <a:pPr>
              <a:defRPr sz="1100">
                <a:solidFill>
                  <a:srgbClr val="F8FAFC"/>
                </a:solidFill>
              </a:defRPr>
            </a:pPr>
            <a:r>
              <a:t>• Unstructured Task Coordination: Casual messaging groups (WhatsApp/Discord) lead to abandoned projects due to lack of defined roles, milestones, and status tracking.</a:t>
            </a:r>
          </a:p>
          <a:p>
            <a:pPr>
              <a:defRPr sz="1100">
                <a:solidFill>
                  <a:srgbClr val="F8FAFC"/>
                </a:solidFill>
              </a:defRPr>
            </a:pPr>
            <a:r>
              <a:t>• Unverified Contribution History: Recruiters and mentors cannot verify who actually built what without a transparent project contribution audit trail.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371600"/>
            <a:ext cx="5212080" cy="484632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0" y="1554480"/>
            <a:ext cx="484632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10B981"/>
                </a:solidFill>
              </a:defRPr>
            </a:pPr>
            <a:r>
              <a:t>💡 THE DEVCOLLAB SOLUTION</a:t>
            </a:r>
          </a:p>
          <a:p>
            <a:pPr>
              <a:defRPr sz="1100">
                <a:solidFill>
                  <a:srgbClr val="F8FAFC"/>
                </a:solidFill>
              </a:defRPr>
            </a:pPr>
            <a:r>
              <a:t>✔ Role-Specific Project Postings: Project owners post ideas with explicit vacant positions (e.g., 'Looking for 1 React Frontend Lead &amp; 1 MongoDB Architect').</a:t>
            </a:r>
          </a:p>
          <a:p>
            <a:pPr>
              <a:defRPr sz="1100">
                <a:solidFill>
                  <a:srgbClr val="F8FAFC"/>
                </a:solidFill>
              </a:defRPr>
            </a:pPr>
            <a:r>
              <a:t>✔ Streamlined Application &amp; Review Workflow: Developers pitch with their verified tech badges; owners accept or reject with one click via REST API.</a:t>
            </a:r>
          </a:p>
          <a:p>
            <a:pPr>
              <a:defRPr sz="1100">
                <a:solidFill>
                  <a:srgbClr val="F8FAFC"/>
                </a:solidFill>
              </a:defRPr>
            </a:pPr>
            <a:r>
              <a:t>✔ Integrated Milestone &amp; Task Kanban: Real-time task board (Todo / In-Progress / Done) synchronizing team efforts across the software lifecycle.</a:t>
            </a:r>
          </a:p>
          <a:p>
            <a:pPr>
              <a:defRPr sz="1100">
                <a:solidFill>
                  <a:srgbClr val="F8FAFC"/>
                </a:solidFill>
              </a:defRPr>
            </a:pPr>
            <a:r>
              <a:t>✔ Full-Stack MERN Architecture: Built strictly using React (Vite), Express.js, MongoDB Atlas, and JWT authentication.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F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09728"/>
            <a:ext cx="10698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F59E0B"/>
                </a:solidFill>
              </a:defRPr>
            </a:pPr>
            <a:r>
              <a:t>CS3301 FULL STACK DEVELOPMENT</a:t>
            </a:r>
          </a:p>
          <a:p>
            <a:pPr>
              <a:defRPr sz="2000" b="1">
                <a:solidFill>
                  <a:srgbClr val="F8FAFC"/>
                </a:solidFill>
              </a:defRPr>
            </a:pPr>
            <a:r>
              <a:t>2. Introduction &amp; Platform Vision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463040"/>
            <a:ext cx="3383280" cy="292608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1645920"/>
            <a:ext cx="310896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38BDF8"/>
                </a:solidFill>
              </a:defRPr>
            </a:pPr>
            <a:r>
              <a:t>🌐 Full-Stack Web SPA</a:t>
            </a:r>
          </a:p>
          <a:p>
            <a:pPr>
              <a:defRPr sz="1050">
                <a:solidFill>
                  <a:srgbClr val="F8FAFC"/>
                </a:solidFill>
              </a:defRPr>
            </a:pPr>
            <a:r>
              <a:t>Built as a high-performance Single Page Application (SPA) using React 18 &amp; Vite, ensuring instantaneous page transitions without full-page browser reloads.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89120" y="1463040"/>
            <a:ext cx="3383280" cy="292608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26280" y="1645920"/>
            <a:ext cx="310896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F59E0B"/>
                </a:solidFill>
              </a:defRPr>
            </a:pPr>
            <a:r>
              <a:t>🛡️ Secure REST Backend</a:t>
            </a:r>
          </a:p>
          <a:p>
            <a:pPr>
              <a:defRPr sz="1050">
                <a:solidFill>
                  <a:srgbClr val="F8FAFC"/>
                </a:solidFill>
              </a:defRPr>
            </a:pPr>
            <a:r>
              <a:t>Engineered with Node.js and Express.js, protected with Helmet, CORS, Morgan logging, and stateless JSON Web Token (JWT) authorization.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046720" y="1463040"/>
            <a:ext cx="3383280" cy="292608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183880" y="1645920"/>
            <a:ext cx="310896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10B981"/>
                </a:solidFill>
              </a:defRPr>
            </a:pPr>
            <a:r>
              <a:t>📦 Scalable Document DB</a:t>
            </a:r>
          </a:p>
          <a:p>
            <a:pPr>
              <a:defRPr sz="1050">
                <a:solidFill>
                  <a:srgbClr val="F8FAFC"/>
                </a:solidFill>
              </a:defRPr>
            </a:pPr>
            <a:r>
              <a:t>Powered by MongoDB Atlas and Mongoose ODM, utilizing normalized referencing and embedded subdocuments for high-speed query execution.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4663440"/>
            <a:ext cx="10698480" cy="1645920"/>
          </a:xfrm>
          <a:prstGeom prst="roundRect">
            <a:avLst/>
          </a:prstGeom>
          <a:solidFill>
            <a:srgbClr val="0F172A"/>
          </a:solidFill>
          <a:ln>
            <a:solidFill>
              <a:srgbClr val="94A3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14400" y="4754880"/>
            <a:ext cx="103327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F59E0B"/>
                </a:solidFill>
              </a:defRPr>
            </a:pPr>
            <a:r>
              <a:t>🎯 TARGET AUDIENCE &amp; REAL-WORLD RELEVANCE</a:t>
            </a:r>
          </a:p>
          <a:p>
            <a:pPr>
              <a:defRPr sz="1050">
                <a:solidFill>
                  <a:srgbClr val="F8FAFC"/>
                </a:solidFill>
              </a:defRPr>
            </a:pPr>
            <a:r>
              <a:t>• University students forming teams for final year capstone projects and hackathons.</a:t>
            </a:r>
            <a:br/>
            <a:r>
              <a:t>• Open-source creators recruiting contributors with specific JavaScript / Python skill sets.</a:t>
            </a:r>
            <a:br/>
            <a:r>
              <a:t>• Developers seeking hands-on team building experience before entering the tech industry.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F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09728"/>
            <a:ext cx="10698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F59E0B"/>
                </a:solidFill>
              </a:defRPr>
            </a:pPr>
            <a:r>
              <a:t>CS3301 FULL STACK DEVELOPMENT</a:t>
            </a:r>
          </a:p>
          <a:p>
            <a:pPr>
              <a:defRPr sz="2000" b="1">
                <a:solidFill>
                  <a:srgbClr val="F8FAFC"/>
                </a:solidFill>
              </a:defRPr>
            </a:pPr>
            <a:r>
              <a:t>3. Project Objectives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325880"/>
            <a:ext cx="10698480" cy="868680"/>
          </a:xfrm>
          <a:prstGeom prst="roundRect">
            <a:avLst/>
          </a:prstGeom>
          <a:solidFill>
            <a:srgbClr val="1E293B"/>
          </a:solidFill>
          <a:ln w="1524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371600"/>
            <a:ext cx="103327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50" b="1">
                <a:solidFill>
                  <a:srgbClr val="38BDF8"/>
                </a:solidFill>
              </a:defRPr>
            </a:pPr>
            <a:r>
              <a:t>1. Dynamic Frontend Engineering</a:t>
            </a:r>
          </a:p>
          <a:p>
            <a:pPr>
              <a:defRPr sz="950">
                <a:solidFill>
                  <a:srgbClr val="F8FAFC"/>
                </a:solidFill>
              </a:defRPr>
            </a:pPr>
            <a:r>
              <a:t>Develop a component-based UI in React 18 with Vite scaffolding, featuring client-side routing (React Router v6), dynamic URL params (/projects/:id), and responsive layouts with CSS Grid/Flexbox.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2286000"/>
            <a:ext cx="10698480" cy="868680"/>
          </a:xfrm>
          <a:prstGeom prst="roundRect">
            <a:avLst/>
          </a:prstGeom>
          <a:solidFill>
            <a:srgbClr val="1E293B"/>
          </a:solidFill>
          <a:ln w="1524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2331720"/>
            <a:ext cx="103327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50" b="1">
                <a:solidFill>
                  <a:srgbClr val="F59E0B"/>
                </a:solidFill>
              </a:defRPr>
            </a:pPr>
            <a:r>
              <a:t>2. Robust RESTful API Design</a:t>
            </a:r>
          </a:p>
          <a:p>
            <a:pPr>
              <a:defRPr sz="950">
                <a:solidFill>
                  <a:srgbClr val="F8FAFC"/>
                </a:solidFill>
              </a:defRPr>
            </a:pPr>
            <a:r>
              <a:t>Build modular Express.js routes handling complete CRUD workflows (Create project, Read listings, Update status, Delete post) adhering strictly to standard HTTP status codes (200, 201, 400, 401, 403, 404, 500).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3246120"/>
            <a:ext cx="10698480" cy="868680"/>
          </a:xfrm>
          <a:prstGeom prst="roundRect">
            <a:avLst/>
          </a:prstGeom>
          <a:solidFill>
            <a:srgbClr val="1E293B"/>
          </a:solidFill>
          <a:ln w="1524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3291839"/>
            <a:ext cx="103327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50" b="1">
                <a:solidFill>
                  <a:srgbClr val="38BDF8"/>
                </a:solidFill>
              </a:defRPr>
            </a:pPr>
            <a:r>
              <a:t>3. End-to-End Security &amp; RBAC</a:t>
            </a:r>
          </a:p>
          <a:p>
            <a:pPr>
              <a:defRPr sz="950">
                <a:solidFill>
                  <a:srgbClr val="F8FAFC"/>
                </a:solidFill>
              </a:defRPr>
            </a:pPr>
            <a:r>
              <a:t>Implement salted password hashing using Bcrypt.js (10 rounds) and secure stateless JWT authentication, ensuring only Project Owners can modify posts or approve applicant requests.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4206240"/>
            <a:ext cx="10698480" cy="868680"/>
          </a:xfrm>
          <a:prstGeom prst="roundRect">
            <a:avLst/>
          </a:prstGeom>
          <a:solidFill>
            <a:srgbClr val="1E293B"/>
          </a:solidFill>
          <a:ln w="1524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14400" y="4251960"/>
            <a:ext cx="103327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50" b="1">
                <a:solidFill>
                  <a:srgbClr val="F59E0B"/>
                </a:solidFill>
              </a:defRPr>
            </a:pPr>
            <a:r>
              <a:t>4. Optimized Database Architecture</a:t>
            </a:r>
          </a:p>
          <a:p>
            <a:pPr>
              <a:defRPr sz="950">
                <a:solidFill>
                  <a:srgbClr val="F8FAFC"/>
                </a:solidFill>
              </a:defRPr>
            </a:pPr>
            <a:r>
              <a:t>Design Mongoose schemas with data validation rules, compound indexing for fast search by tech stack, and relational population between Users, Projects, and Applications.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31520" y="5166360"/>
            <a:ext cx="10698480" cy="868680"/>
          </a:xfrm>
          <a:prstGeom prst="roundRect">
            <a:avLst/>
          </a:prstGeom>
          <a:solidFill>
            <a:srgbClr val="1E293B"/>
          </a:solidFill>
          <a:ln w="1524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14400" y="5212080"/>
            <a:ext cx="103327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50" b="1">
                <a:solidFill>
                  <a:srgbClr val="38BDF8"/>
                </a:solidFill>
              </a:defRPr>
            </a:pPr>
            <a:r>
              <a:t>5. Automated Testing &amp; Cloud CI/CD</a:t>
            </a:r>
          </a:p>
          <a:p>
            <a:pPr>
              <a:defRPr sz="950">
                <a:solidFill>
                  <a:srgbClr val="F8FAFC"/>
                </a:solidFill>
              </a:defRPr>
            </a:pPr>
            <a:r>
              <a:t>Integrate Supertest and Jest for API unit tests, Cypress for user flows, and deploy live on Vercel (Frontend SPA) and Render (Express Web API) with MongoDB Atlas.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F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09728"/>
            <a:ext cx="10698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F59E0B"/>
                </a:solidFill>
              </a:defRPr>
            </a:pPr>
            <a:r>
              <a:t>CS3301 FULL STACK DEVELOPMENT</a:t>
            </a:r>
          </a:p>
          <a:p>
            <a:pPr>
              <a:defRPr sz="2000" b="1">
                <a:solidFill>
                  <a:srgbClr val="F8FAFC"/>
                </a:solidFill>
              </a:defRPr>
            </a:pPr>
            <a:r>
              <a:t>4. Requirement Analysis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371600"/>
            <a:ext cx="5120640" cy="493776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508760"/>
            <a:ext cx="475488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38BDF8"/>
                </a:solidFill>
              </a:defRPr>
            </a:pPr>
            <a:r>
              <a:t>📋 FUNCTIONAL REQUIREMENTS (FR)</a:t>
            </a:r>
          </a:p>
          <a:p>
            <a:pPr>
              <a:defRPr sz="950">
                <a:solidFill>
                  <a:srgbClr val="F8FAFC"/>
                </a:solidFill>
              </a:defRPr>
            </a:pPr>
            <a:r>
              <a:t>FR1. User Authentication: Registration, login, profile editing with bio, skill tags, and GitHub URL.</a:t>
            </a:r>
          </a:p>
          <a:p>
            <a:pPr>
              <a:defRPr sz="950">
                <a:solidFill>
                  <a:srgbClr val="F8FAFC"/>
                </a:solidFill>
              </a:defRPr>
            </a:pPr>
            <a:r>
              <a:t>FR2. Project Discovery: Search and multi-filter projects by skills (e.g. React, Node, MongoDB), status (Open/Active), and role openings.</a:t>
            </a:r>
          </a:p>
          <a:p>
            <a:pPr>
              <a:defRPr sz="950">
                <a:solidFill>
                  <a:srgbClr val="F8FAFC"/>
                </a:solidFill>
              </a:defRPr>
            </a:pPr>
            <a:r>
              <a:t>FR3. Project Posting (CRUD): Create new listings with role requirements, edit details, and close completed projects.</a:t>
            </a:r>
          </a:p>
          <a:p>
            <a:pPr>
              <a:defRPr sz="950">
                <a:solidFill>
                  <a:srgbClr val="F8FAFC"/>
                </a:solidFill>
              </a:defRPr>
            </a:pPr>
            <a:r>
              <a:t>FR4. Application System: Developers submit applications with pitch messages; project creators approve/reject.</a:t>
            </a:r>
          </a:p>
          <a:p>
            <a:pPr>
              <a:defRPr sz="950">
                <a:solidFill>
                  <a:srgbClr val="F8FAFC"/>
                </a:solidFill>
              </a:defRPr>
            </a:pPr>
            <a:r>
              <a:t>FR5. Collaborative Task Board: Accepted team members manage sprint tasks across Todo, In-Progress, and Done columns.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371600"/>
            <a:ext cx="5212080" cy="493776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0" y="1508760"/>
            <a:ext cx="48463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F59E0B"/>
                </a:solidFill>
              </a:defRPr>
            </a:pPr>
            <a:r>
              <a:t>⚡ NON-FUNCTIONAL REQUIREMENTS (NFR)</a:t>
            </a:r>
          </a:p>
          <a:p>
            <a:pPr>
              <a:defRPr sz="950">
                <a:solidFill>
                  <a:srgbClr val="F8FAFC"/>
                </a:solidFill>
              </a:defRPr>
            </a:pPr>
            <a:r>
              <a:t>NFR1. Security: Salted password hashing (Bcrypt 10 rounds), signed JWT tokens, CORS protection, Helmet HTTP headers, and .env secrets isolation.</a:t>
            </a:r>
          </a:p>
          <a:p>
            <a:pPr>
              <a:defRPr sz="950">
                <a:solidFill>
                  <a:srgbClr val="F8FAFC"/>
                </a:solidFill>
              </a:defRPr>
            </a:pPr>
            <a:r>
              <a:t>NFR2. Performance &amp; Speed: Sub-second API response times (&lt;300ms) achieved through indexed MongoDB queries and Express gzip compression.</a:t>
            </a:r>
          </a:p>
          <a:p>
            <a:pPr>
              <a:defRPr sz="950">
                <a:solidFill>
                  <a:srgbClr val="F8FAFC"/>
                </a:solidFill>
              </a:defRPr>
            </a:pPr>
            <a:r>
              <a:t>NFR3. Responsive UI: Mobile-first styling adapting seamlessly across smartphone (360px), tablet (768px), and desktop (1200px+) viewports.</a:t>
            </a:r>
          </a:p>
          <a:p>
            <a:pPr>
              <a:defRPr sz="950">
                <a:solidFill>
                  <a:srgbClr val="F8FAFC"/>
                </a:solidFill>
              </a:defRPr>
            </a:pPr>
            <a:r>
              <a:t>NFR4. Scalability: Stateless server design allowing independent horizontal scaling of Express backend on Render.</a:t>
            </a:r>
          </a:p>
          <a:p>
            <a:pPr>
              <a:defRPr sz="950">
                <a:solidFill>
                  <a:srgbClr val="F8FAFC"/>
                </a:solidFill>
              </a:defRPr>
            </a:pPr>
            <a:r>
              <a:t>NFR5. Code Maintainability: Clean MVC layering (Models, Views/React, Controllers) with ESLint adherence.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F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09728"/>
            <a:ext cx="10698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F59E0B"/>
                </a:solidFill>
              </a:defRPr>
            </a:pPr>
            <a:r>
              <a:t>CS3301 FULL STACK DEVELOPMENT</a:t>
            </a:r>
          </a:p>
          <a:p>
            <a:pPr>
              <a:defRPr sz="2000" b="1">
                <a:solidFill>
                  <a:srgbClr val="F8FAFC"/>
                </a:solidFill>
              </a:defRPr>
            </a:pPr>
            <a:r>
              <a:t>5. System Architecture Diagram</a:t>
            </a:r>
          </a:p>
        </p:txBody>
      </p:sp>
      <p:pic>
        <p:nvPicPr>
          <p:cNvPr id="5" name="Picture 4" descr="system_architectur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280160"/>
            <a:ext cx="10698480" cy="50292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F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09728"/>
            <a:ext cx="10698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F59E0B"/>
                </a:solidFill>
              </a:defRPr>
            </a:pPr>
            <a:r>
              <a:t>CS3301 FULL STACK DEVELOPMENT</a:t>
            </a:r>
          </a:p>
          <a:p>
            <a:pPr>
              <a:defRPr sz="2000" b="1">
                <a:solidFill>
                  <a:srgbClr val="F8FAFC"/>
                </a:solidFill>
              </a:defRPr>
            </a:pPr>
            <a:r>
              <a:t>6. UI Wireframes &amp; Layout Planning</a:t>
            </a:r>
          </a:p>
        </p:txBody>
      </p:sp>
      <p:pic>
        <p:nvPicPr>
          <p:cNvPr id="5" name="Picture 4" descr="ui_wirefram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280160"/>
            <a:ext cx="10698480" cy="50292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F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09728"/>
            <a:ext cx="10698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F59E0B"/>
                </a:solidFill>
              </a:defRPr>
            </a:pPr>
            <a:r>
              <a:t>CS3301 FULL STACK DEVELOPMENT</a:t>
            </a:r>
          </a:p>
          <a:p>
            <a:pPr>
              <a:defRPr sz="2000" b="1">
                <a:solidFill>
                  <a:srgbClr val="F8FAFC"/>
                </a:solidFill>
              </a:defRPr>
            </a:pPr>
            <a:r>
              <a:t>7. User Navigation Flow &amp; Decision Logic</a:t>
            </a:r>
          </a:p>
        </p:txBody>
      </p:sp>
      <p:pic>
        <p:nvPicPr>
          <p:cNvPr id="5" name="Picture 4" descr="user_flow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280160"/>
            <a:ext cx="10698480" cy="50292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F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09728"/>
            <a:ext cx="10698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F59E0B"/>
                </a:solidFill>
              </a:defRPr>
            </a:pPr>
            <a:r>
              <a:t>CS3301 FULL STACK DEVELOPMENT</a:t>
            </a:r>
          </a:p>
          <a:p>
            <a:pPr>
              <a:defRPr sz="2000" b="1">
                <a:solidFill>
                  <a:srgbClr val="F8FAFC"/>
                </a:solidFill>
              </a:defRPr>
            </a:pPr>
            <a:r>
              <a:t>8. Database Schema &amp; Mongoose Models</a:t>
            </a:r>
          </a:p>
        </p:txBody>
      </p:sp>
      <p:pic>
        <p:nvPicPr>
          <p:cNvPr id="5" name="Picture 4" descr="database_schem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280160"/>
            <a:ext cx="10698480" cy="50292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F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09728"/>
            <a:ext cx="10698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F59E0B"/>
                </a:solidFill>
              </a:defRPr>
            </a:pPr>
            <a:r>
              <a:t>CS3301 FULL STACK DEVELOPMENT</a:t>
            </a:r>
          </a:p>
          <a:p>
            <a:pPr>
              <a:defRPr sz="2000" b="1">
                <a:solidFill>
                  <a:srgbClr val="F8FAFC"/>
                </a:solidFill>
              </a:defRPr>
            </a:pPr>
            <a:r>
              <a:t>9. Technology Stack (Curriculum Modules 1 to 5)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731520" y="1325880"/>
          <a:ext cx="10698480" cy="4846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11680"/>
                <a:gridCol w="2286000"/>
                <a:gridCol w="1645920"/>
                <a:gridCol w="4754880"/>
              </a:tblGrid>
              <a:tr h="692331"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59E0B"/>
                          </a:solidFill>
                        </a:defRPr>
                      </a:pPr>
                      <a:r>
                        <a:t>Layer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59E0B"/>
                          </a:solidFill>
                        </a:defRPr>
                      </a:pPr>
                      <a:r>
                        <a:t>Technology Used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59E0B"/>
                          </a:solidFill>
                        </a:defRPr>
                      </a:pPr>
                      <a:r>
                        <a:t>Course Module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59E0B"/>
                          </a:solidFill>
                        </a:defRPr>
                      </a:pPr>
                      <a:r>
                        <a:t>Role in DevCollab Application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</a:tr>
              <a:tr h="692331"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F8FAFC"/>
                          </a:solidFill>
                        </a:defRPr>
                      </a:pPr>
                      <a:r>
                        <a:t>Frontend Client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F8FAFC"/>
                          </a:solidFill>
                        </a:defRPr>
                      </a:pPr>
                      <a:r>
                        <a:t>React.js 18 + Vite Scaffolding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F8FAFC"/>
                          </a:solidFill>
                        </a:defRPr>
                      </a:pPr>
                      <a:r>
                        <a:t>Module 2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F8FAFC"/>
                          </a:solidFill>
                        </a:defRPr>
                      </a:pPr>
                      <a:r>
                        <a:t>Single Page App (SPA), dynamic component rendering, Virtual DOM.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</a:tr>
              <a:tr h="692331"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F8FAFC"/>
                          </a:solidFill>
                        </a:defRPr>
                      </a:pPr>
                      <a:r>
                        <a:t>Routing &amp; State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F8FAFC"/>
                          </a:solidFill>
                        </a:defRPr>
                      </a:pPr>
                      <a:r>
                        <a:t>React Router v6 + Context API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F8FAFC"/>
                          </a:solidFill>
                        </a:defRPr>
                      </a:pPr>
                      <a:r>
                        <a:t>Module 2 &amp; 5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F8FAFC"/>
                          </a:solidFill>
                        </a:defRPr>
                      </a:pPr>
                      <a:r>
                        <a:t>Dynamic route parameters (/projects/:id), protected routes &amp; global auth.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</a:tr>
              <a:tr h="692331"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F8FAFC"/>
                          </a:solidFill>
                        </a:defRPr>
                      </a:pPr>
                      <a:r>
                        <a:t>Backend Web Server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F8FAFC"/>
                          </a:solidFill>
                        </a:defRPr>
                      </a:pPr>
                      <a:r>
                        <a:t>Node.js &amp; Express.js Framework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F8FAFC"/>
                          </a:solidFill>
                        </a:defRPr>
                      </a:pPr>
                      <a:r>
                        <a:t>Module 3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F8FAFC"/>
                          </a:solidFill>
                        </a:defRPr>
                      </a:pPr>
                      <a:r>
                        <a:t>RESTful API pipeline, routing, custom middleware &amp; centralized error handling.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</a:tr>
              <a:tr h="692331"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F8FAFC"/>
                          </a:solidFill>
                        </a:defRPr>
                      </a:pPr>
                      <a:r>
                        <a:t>Database &amp; ODM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F8FAFC"/>
                          </a:solidFill>
                        </a:defRPr>
                      </a:pPr>
                      <a:r>
                        <a:t>MongoDB Atlas + Mongoose ODM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F8FAFC"/>
                          </a:solidFill>
                        </a:defRPr>
                      </a:pPr>
                      <a:r>
                        <a:t>Module 4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F8FAFC"/>
                          </a:solidFill>
                        </a:defRPr>
                      </a:pPr>
                      <a:r>
                        <a:t>NoSQL document storage, schema validation, indexing, and populate relations.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</a:tr>
              <a:tr h="692331"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F8FAFC"/>
                          </a:solidFill>
                        </a:defRPr>
                      </a:pPr>
                      <a:r>
                        <a:t>Security &amp; Auth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F8FAFC"/>
                          </a:solidFill>
                        </a:defRPr>
                      </a:pPr>
                      <a:r>
                        <a:t>Bcrypt.js + JSON Web Tokens (JWT)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F8FAFC"/>
                          </a:solidFill>
                        </a:defRPr>
                      </a:pPr>
                      <a:r>
                        <a:t>Module 4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F8FAFC"/>
                          </a:solidFill>
                        </a:defRPr>
                      </a:pPr>
                      <a:r>
                        <a:t>Salted password hashing and stateless authorization for protected endpoints.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</a:tr>
              <a:tr h="692334"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F8FAFC"/>
                          </a:solidFill>
                        </a:defRPr>
                      </a:pPr>
                      <a:r>
                        <a:t>Testing &amp; Cloud Deploy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F8FAFC"/>
                          </a:solidFill>
                        </a:defRPr>
                      </a:pPr>
                      <a:r>
                        <a:t>Jest, Supertest, Vercel &amp; Render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F8FAFC"/>
                          </a:solidFill>
                        </a:defRPr>
                      </a:pPr>
                      <a:r>
                        <a:t>Module 5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F8FAFC"/>
                          </a:solidFill>
                        </a:defRPr>
                      </a:pPr>
                      <a:r>
                        <a:t>Automated endpoint tests, SPA hosting (Vercel), API service hosting (Render).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F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09728"/>
            <a:ext cx="10698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F59E0B"/>
                </a:solidFill>
              </a:defRPr>
            </a:pPr>
            <a:r>
              <a:t>CS3301 FULL STACK DEVELOPMENT</a:t>
            </a:r>
          </a:p>
          <a:p>
            <a:pPr>
              <a:defRPr sz="2000" b="1">
                <a:solidFill>
                  <a:srgbClr val="F8FAFC"/>
                </a:solidFill>
              </a:defRPr>
            </a:pPr>
            <a:r>
              <a:t>10. Implementation Plan &amp; Phased Milestones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325880"/>
            <a:ext cx="10698480" cy="868680"/>
          </a:xfrm>
          <a:prstGeom prst="roundRect">
            <a:avLst/>
          </a:prstGeom>
          <a:solidFill>
            <a:srgbClr val="1E293B"/>
          </a:solidFill>
          <a:ln w="1524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371600"/>
            <a:ext cx="103327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10B981"/>
                </a:solidFill>
              </a:defRPr>
            </a:pPr>
            <a:r>
              <a:t>Phase I (CIE-1 Current Deliverable)</a:t>
            </a:r>
          </a:p>
          <a:p>
            <a:pPr>
              <a:defRPr sz="950">
                <a:solidFill>
                  <a:srgbClr val="F8FAFC"/>
                </a:solidFill>
              </a:defRPr>
            </a:pPr>
            <a:r>
              <a:t>Ideation, problem statement definition, system architecture diagram, user flow, Mongoose schema modeling, UI wireframes, and GitHub repository setup with milestone tracking.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2286000"/>
            <a:ext cx="10698480" cy="868680"/>
          </a:xfrm>
          <a:prstGeom prst="roundRect">
            <a:avLst/>
          </a:prstGeom>
          <a:solidFill>
            <a:srgbClr val="1E293B"/>
          </a:solidFill>
          <a:ln w="1524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2331720"/>
            <a:ext cx="103327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38BDF8"/>
                </a:solidFill>
              </a:defRPr>
            </a:pPr>
            <a:r>
              <a:t>Phase II (Frontend Development - Module 2)</a:t>
            </a:r>
          </a:p>
          <a:p>
            <a:pPr>
              <a:defRPr sz="950">
                <a:solidFill>
                  <a:srgbClr val="F8FAFC"/>
                </a:solidFill>
              </a:defRPr>
            </a:pPr>
            <a:r>
              <a:t>Scaffold React app with Vite, build reusable atomic UI components (Navbar, ProjectCard, Modal), configure React Router, and implement state-managed forms.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3246120"/>
            <a:ext cx="10698480" cy="868680"/>
          </a:xfrm>
          <a:prstGeom prst="roundRect">
            <a:avLst/>
          </a:prstGeom>
          <a:solidFill>
            <a:srgbClr val="1E293B"/>
          </a:solidFill>
          <a:ln w="1524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3291839"/>
            <a:ext cx="103327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F59E0B"/>
                </a:solidFill>
              </a:defRPr>
            </a:pPr>
            <a:r>
              <a:t>Phase III (Backend REST APIs - Module 3)</a:t>
            </a:r>
          </a:p>
          <a:p>
            <a:pPr>
              <a:defRPr sz="950">
                <a:solidFill>
                  <a:srgbClr val="F8FAFC"/>
                </a:solidFill>
              </a:defRPr>
            </a:pPr>
            <a:r>
              <a:t>Initialize Express server with CORS/Helmet middleware, establish MVC controllers, implement 5+ CRUD endpoints for projects/applications, and verify via Postman.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4206240"/>
            <a:ext cx="10698480" cy="868680"/>
          </a:xfrm>
          <a:prstGeom prst="roundRect">
            <a:avLst/>
          </a:prstGeom>
          <a:solidFill>
            <a:srgbClr val="1E293B"/>
          </a:solidFill>
          <a:ln w="15240">
            <a:solidFill>
              <a:srgbClr val="A855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14400" y="4251960"/>
            <a:ext cx="103327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A855F7"/>
                </a:solidFill>
              </a:defRPr>
            </a:pPr>
            <a:r>
              <a:t>Phase IV (Database &amp; Auth - Module 4)</a:t>
            </a:r>
          </a:p>
          <a:p>
            <a:pPr>
              <a:defRPr sz="950">
                <a:solidFill>
                  <a:srgbClr val="F8FAFC"/>
                </a:solidFill>
              </a:defRPr>
            </a:pPr>
            <a:r>
              <a:t>Connect Express backend to MongoDB Atlas, enforce Mongoose validations, implement Bcrypt password hashing, JWT creation, and protected route middleware.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31520" y="5166360"/>
            <a:ext cx="10698480" cy="868680"/>
          </a:xfrm>
          <a:prstGeom prst="roundRect">
            <a:avLst/>
          </a:prstGeom>
          <a:solidFill>
            <a:srgbClr val="1E293B"/>
          </a:solidFill>
          <a:ln w="15240">
            <a:solidFill>
              <a:srgbClr val="EC48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14400" y="5212080"/>
            <a:ext cx="103327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EC4899"/>
                </a:solidFill>
              </a:defRPr>
            </a:pPr>
            <a:r>
              <a:t>Phase V (Integration, Testing &amp; Deployment - Module 5)</a:t>
            </a:r>
          </a:p>
          <a:p>
            <a:pPr>
              <a:defRPr sz="950">
                <a:solidFill>
                  <a:srgbClr val="F8FAFC"/>
                </a:solidFill>
              </a:defRPr>
            </a:pPr>
            <a:r>
              <a:t>Axios frontend-backend handshake, automated unit testing with Supertest and Jest, Cypress E2E user flow tests, and live production deployment on Vercel &amp; Render.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